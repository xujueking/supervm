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SuperVM 鎶曡祫璺紨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Web3 Operating System</a:t>
            </a:r>
            <a:br/>
            <a:br/>
            <a:r>
              <a:rPr/>
              <a:t>SuperVM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SuperVM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娼樺鎷夋槦鏍?(Pandora Core)</a:t>
            </a:r>
          </a:p>
          <a:p>
            <a:pPr lvl="0" indent="0" marL="0">
              <a:buNone/>
            </a:pPr>
            <a:r>
              <a:rPr b="1"/>
              <a:t>Unlocking the Multi-Chain Future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$2 Billion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Web3’s Fragmentation Crisis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Security Catastrophe</a:t>
            </a:r>
          </a:p>
          <a:p>
            <a:pPr lvl="0"/>
            <a:r>
              <a:rPr/>
              <a:t>$2B+ stolen from bridges</a:t>
            </a:r>
          </a:p>
          <a:p>
            <a:pPr lvl="0"/>
            <a:r>
              <a:rPr/>
              <a:t>Ronin: $624M</a:t>
            </a:r>
          </a:p>
          <a:p>
            <a:pPr lvl="0"/>
            <a:r>
              <a:rPr/>
              <a:t>Wormhole: $326M</a:t>
            </a:r>
          </a:p>
          <a:p>
            <a:pPr lvl="0"/>
            <a:r>
              <a:rPr/>
              <a:t>Single point of failure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Performance Ceiling</a:t>
            </a:r>
          </a:p>
          <a:p>
            <a:pPr lvl="0"/>
            <a:r>
              <a:rPr/>
              <a:t>Ethereum: 15 TPS</a:t>
            </a:r>
          </a:p>
          <a:p>
            <a:pPr lvl="0"/>
            <a:r>
              <a:rPr/>
              <a:t>30 min finality</a:t>
            </a:r>
          </a:p>
          <a:p>
            <a:pPr lvl="0"/>
            <a:r>
              <a:rPr/>
              <a:t>Cross-chain: 1-60 min</a:t>
            </a:r>
          </a:p>
          <a:p>
            <a:pPr lvl="0"/>
            <a:r>
              <a:rPr/>
              <a:t>Wrapped assets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OS for All Blockchains</a:t>
            </a:r>
          </a:p>
          <a:p>
            <a:pPr lvl="0" indent="0" marL="1270000">
              <a:buNone/>
            </a:pPr>
            <a:r>
              <a:rPr sz="2000"/>
              <a:t>What if Bitcoin, Ethereum, Solana worked together like apps on your phone?</a:t>
            </a:r>
          </a:p>
          <a:p>
            <a:pPr lvl="0"/>
            <a:r>
              <a:rPr/>
              <a:t>鉁?No bridges, no wrapping</a:t>
            </a:r>
          </a:p>
          <a:p>
            <a:pPr lvl="0"/>
            <a:r>
              <a:rPr/>
              <a:t>鉁?Write once, deploy everywhere</a:t>
            </a:r>
          </a:p>
          <a:p>
            <a:pPr lvl="0"/>
            <a:r>
              <a:rPr/>
              <a:t>鉁?Privacy by default</a:t>
            </a:r>
          </a:p>
          <a:p>
            <a:pPr lvl="0"/>
            <a:r>
              <a:rPr/>
              <a:t>鉁?Unstoppable network</a:t>
            </a:r>
          </a:p>
          <a:p>
            <a:pPr lvl="0" indent="0" marL="0">
              <a:buNone/>
            </a:pPr>
            <a:r>
              <a:rPr b="1"/>
              <a:t>We’re building the Web3 Operating System.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 Breakthrough Innovations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/>
                <a:gridCol w="3035300"/>
                <a:gridCol w="2603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Native Chain Fusion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Bitcoin/Ethereum nodes AS components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 contracts (hackable)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242K TPS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MVCC parallel execution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10-50K TPS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Built-in 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Ring + ZK proofs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add-on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Neural Mesh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Auto-switch 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Internet-only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Four-Layer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 鈹屸攢鈹€鈹€鈹€鈹€鈹€鈹€鈹€鈹€鈹€鈹€鈹€鈹€鈹€鈹€鈹€鈹€鈹€鈹€鈹€鈹€鈹€鈹€鈹€鈹€鈹€鈹€鈹€鈹€鈹€鈹€鈹€鈹€鈹€鈹€鈹€鈹€鈹? 鈹?L1: 瓒呯畻 (Cerebral Cortex) 鈹? 鈹?Full state + ZK proofs 鈹? 鈹溾攢鈹€鈹€鈹€鈹€鈹€鈹€鈹€鈹€鈹€鈹€鈹€鈹€鈹€鈹€鈹€鈹€鈹€鈹€鈹€鈹€鈹€鈹€鈹€鈹€鈹€鈹€鈹€鈹€鈹€鈹€鈹€鈹€鈹€鈹€鈹€鈹€鈹? 鈹?L2: 鐭挎満 (Spinal Cord) 鈹? 鈹?MVCC execution (242K TPS) 鈹? 鈹溾攢鈹€鈹€鈹€鈹€鈹€鈹€鈹€鈹€鈹€鈹€鈹€鈹€鈹€鈹€鈹€鈹€鈹€鈹€鈹€鈹€鈹€鈹€鈹€鈹€鈹€鈹€鈹€鈹€鈹€鈹€鈹€鈹€鈹€鈹€鈹€鈹€鈹? 鈹?L3: 杈圭紭 (Ganglia) 鈹? 鈹?Mesh relay + caching 鈹? 鈹溾攢鈹€鈹€鈹€鈹€鈹€鈹€鈹€鈹€鈹€鈹€鈹€鈹€鈹€鈹€鈹€鈹€鈹€鈹€鈹€鈹€鈹€鈹€鈹€鈹€鈹€鈹€鈹€鈹€鈹€鈹€鈹€鈹€鈹€鈹€鈹€鈹€鈹? 鈹?L4: 绉诲姩 (Sensory Neurons) 鈹? 鈹?SPV clients + sensing 鈹? 鈹斺攢鈹€鈹€鈹€鈹€鈹€鈹€鈹€鈹€鈹€鈹€鈹€鈹€鈹€鈹€鈹€鈹€鈹€鈹€鈹€鈹€鈹€鈹€鈹€鈹€鈹€鈹€鈹€鈹€鈹€鈹€鈹€鈹€鈹€鈹€鈹€鈹€鈹? ```</a:t>
            </a:r>
          </a:p>
          <a:p>
            <a:pPr lvl="0" indent="0" marL="0">
              <a:buNone/>
            </a:pPr>
            <a:r>
              <a:rPr b="1"/>
              <a:t>Auto-switch</a:t>
            </a:r>
            <a:r>
              <a:rPr/>
              <a:t>: Internet 鈫?WiFi 鈫?Bluetooth 鈫?LoRa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 Bridges = No Hacks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Bridges vs SuperVM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Bridges 鉂?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SuperVM 鉁?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Relayer committee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Cryptographic proofs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Wrapped (wBTC)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Native (BTC)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$2B+ hacked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bridge contracts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1-60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Liquidity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Unified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$85B</a:t>
            </a:r>
            <a:r>
              <a:rPr b="1"/>
              <a:t> TAM, Growing 40% YoY</a:t>
            </a:r>
          </a:p>
          <a:p>
            <a:pPr lvl="0"/>
            <a:r>
              <a:rPr b="1"/>
              <a:t>Total Addressable Market</a:t>
            </a:r>
            <a:r>
              <a:rPr/>
              <a:t>: </a:t>
            </a:r>
            <a:r>
              <a:rPr>
                <a:latin typeface="Courier"/>
              </a:rPr>
              <a:t>$85B</a:t>
            </a:r>
            <a:r>
              <a:rPr/>
              <a:t> (2024)</a:t>
            </a:r>
          </a:p>
          <a:p>
            <a:pPr lvl="1"/>
            <a:r>
              <a:rPr/>
              <a:t>Multi-chain infrastructure</a:t>
            </a:r>
          </a:p>
          <a:p>
            <a:pPr lvl="1"/>
            <a:r>
              <a:rPr/>
              <a:t>Cross-chain DEX volume: $120B annual</a:t>
            </a:r>
          </a:p>
          <a:p>
            <a:pPr lvl="0"/>
            <a:r>
              <a:rPr b="1"/>
              <a:t>Serviceable Market</a:t>
            </a:r>
            <a:r>
              <a:rPr/>
              <a:t>: $35B</a:t>
            </a:r>
          </a:p>
          <a:p>
            <a:pPr lvl="1"/>
            <a:r>
              <a:rPr/>
              <a:t>Multi-chain DeFi</a:t>
            </a:r>
          </a:p>
          <a:p>
            <a:pPr lvl="1"/>
            <a:r>
              <a:rPr/>
              <a:t>Enterprise blockchain</a:t>
            </a:r>
          </a:p>
          <a:p>
            <a:pPr lvl="0"/>
            <a:r>
              <a:rPr b="1"/>
              <a:t>Our Target</a:t>
            </a:r>
            <a:r>
              <a:rPr/>
              <a:t>: $500M (Year 1-3)</a:t>
            </a:r>
          </a:p>
          <a:p>
            <a:pPr lvl="1"/>
            <a:r>
              <a:rPr/>
              <a:t>5% market share 鈫?$1.75B opportunity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Landscape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Bridges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Wormhole, LayerZero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Lock-mint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$2B hacked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L2 Rollups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Arbitrum, zkSync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Ethereum 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Single-chain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Alt-L1s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Solana, Avalanche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Isolated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Monero, Zcash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SuperVM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Multi-chain 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Early stage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Moat</a:t>
            </a:r>
            <a:r>
              <a:rPr/>
              <a:t>: 3-year tech lead + first-mover + network effects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Triple Revenue Streams</a:t>
            </a:r>
          </a:p>
          <a:p>
            <a:pPr lvl="0" indent="-342900" marL="342900">
              <a:buAutoNum type="arabicPeriod"/>
            </a:pPr>
            <a:r>
              <a:rPr b="1"/>
              <a:t>Transaction Fees</a:t>
            </a:r>
            <a:r>
              <a:rPr/>
              <a:t> (Primary)</a:t>
            </a:r>
          </a:p>
          <a:p>
            <a:pPr lvl="1"/>
            <a:r>
              <a:rPr/>
              <a:t>0.07% vs Ethereum’s 0.5-3%</a:t>
            </a:r>
          </a:p>
          <a:p>
            <a:pPr lvl="1"/>
            <a:r>
              <a:rPr/>
              <a:t>50% burned, 30% validators, 20% treasury</a:t>
            </a:r>
          </a:p>
          <a:p>
            <a:pPr lvl="1"/>
            <a:r>
              <a:rPr b="1">
                <a:latin typeface="Courier"/>
              </a:rPr>
              <a:t>$5M</a:t>
            </a:r>
            <a:r>
              <a:rPr b="1"/>
              <a:t> ARR</a:t>
            </a:r>
            <a:r>
              <a:rPr/>
              <a:t> (Year 1) 鈫?</a:t>
            </a:r>
            <a:r>
              <a:rPr b="1">
                <a:latin typeface="Courier"/>
              </a:rPr>
              <a:t>$50M</a:t>
            </a:r>
            <a:r>
              <a:rPr/>
              <a:t> (Year 3)</a:t>
            </a:r>
          </a:p>
          <a:p>
            <a:pPr lvl="0" indent="-342900" marL="342900">
              <a:buAutoNum type="arabicPeriod"/>
            </a:pPr>
            <a:r>
              <a:rPr b="1"/>
              <a:t>Enterprise Licensing</a:t>
            </a:r>
            <a:r>
              <a:rPr/>
              <a:t> (B2B)</a:t>
            </a:r>
          </a:p>
          <a:p>
            <a:pPr lvl="1"/>
            <a:r>
              <a:rPr/>
              <a:t>Private deployments: $100K-$500K/year</a:t>
            </a:r>
          </a:p>
          <a:p>
            <a:pPr lvl="1"/>
            <a:r>
              <a:rPr b="1">
                <a:latin typeface="Courier"/>
              </a:rPr>
              <a:t>$2M</a:t>
            </a:r>
            <a:r>
              <a:rPr b="1"/>
              <a:t> ARR</a:t>
            </a:r>
            <a:r>
              <a:rPr/>
              <a:t> (Year 2) 鈫?</a:t>
            </a:r>
            <a:r>
              <a:rPr b="1">
                <a:latin typeface="Courier"/>
              </a:rPr>
              <a:t>$10M</a:t>
            </a:r>
            <a:r>
              <a:rPr/>
              <a:t> (Year 4)</a:t>
            </a:r>
          </a:p>
          <a:p>
            <a:pPr lvl="0" indent="-342900" marL="342900">
              <a:buAutoNum type="arabicPeriod"/>
            </a:pPr>
            <a:r>
              <a:rPr b="1"/>
              <a:t>Developer Platform</a:t>
            </a:r>
            <a:r>
              <a:rPr/>
              <a:t> (Future)</a:t>
            </a:r>
          </a:p>
          <a:p>
            <a:pPr lvl="1"/>
            <a:r>
              <a:rPr/>
              <a:t>API access, smart contract fees</a:t>
            </a:r>
          </a:p>
          <a:p>
            <a:pPr lvl="1"/>
            <a:r>
              <a:rPr b="1">
                <a:latin typeface="Courier"/>
              </a:rPr>
              <a:t>$1M</a:t>
            </a:r>
            <a:r>
              <a:rPr b="1"/>
              <a:t> ARR</a:t>
            </a:r>
            <a:r>
              <a:rPr/>
              <a:t> (Year 3)</a:t>
            </a:r>
          </a:p>
          <a:p>
            <a:pPr lvl="0" indent="0" marL="0">
              <a:buNone/>
            </a:pPr>
            <a:r>
              <a:rPr b="1"/>
              <a:t>Unit Economics</a:t>
            </a:r>
            <a:r>
              <a:rPr/>
              <a:t>: LTV/CAC = 48:1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$SUPERVM</a:t>
            </a:r>
            <a:r>
              <a:rPr b="1"/>
              <a:t>: Deflationary Utility Token</a:t>
            </a:r>
          </a:p>
          <a:p>
            <a:pPr lvl="0" indent="0" marL="0">
              <a:buNone/>
            </a:pPr>
            <a:r>
              <a:rPr b="1"/>
              <a:t>Total Supply</a:t>
            </a:r>
            <a:r>
              <a:rPr/>
              <a:t>: 1,000,000,000</a:t>
            </a:r>
          </a:p>
          <a:p>
            <a:pPr lvl="0"/>
            <a:r>
              <a:rPr/>
              <a:t>馃寪 Ecosystem (40%): Mining rewards</a:t>
            </a:r>
          </a:p>
          <a:p>
            <a:pPr lvl="0"/>
            <a:r>
              <a:rPr/>
              <a:t>馃懃 Team (20%): 4-year vesting</a:t>
            </a:r>
          </a:p>
          <a:p>
            <a:pPr lvl="0"/>
            <a:r>
              <a:rPr/>
              <a:t>馃挵 Investors (15%): 2-year vesting</a:t>
            </a:r>
          </a:p>
          <a:p>
            <a:pPr lvl="0"/>
            <a:r>
              <a:rPr/>
              <a:t>馃彌锔?Foundation (15%): Development</a:t>
            </a:r>
          </a:p>
          <a:p>
            <a:pPr lvl="0"/>
            <a:r>
              <a:rPr/>
              <a:t>馃殌 Public (10%): TGE</a:t>
            </a:r>
          </a:p>
          <a:p>
            <a:pPr lvl="0" indent="0" marL="0">
              <a:buNone/>
            </a:pPr>
            <a:r>
              <a:rPr b="1"/>
              <a:t>Utility</a:t>
            </a:r>
            <a:r>
              <a:rPr/>
              <a:t>: Gas fees, staking (8-12% APY), governance</a:t>
            </a:r>
          </a:p>
          <a:p>
            <a:pPr lvl="0" indent="0" marL="0">
              <a:buNone/>
            </a:pPr>
            <a:r>
              <a:rPr b="1"/>
              <a:t>Burn</a:t>
            </a:r>
            <a:r>
              <a:rPr/>
              <a:t>: 50% of all Gas fees 鈫?500M tokens burned in 5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18 Months to Mainnet</a:t>
            </a:r>
          </a:p>
          <a:p>
            <a:pPr lvl="0" indent="0" marL="0">
              <a:buNone/>
            </a:pPr>
            <a:r>
              <a:rPr b="1"/>
              <a:t>2024</a:t>
            </a:r>
            <a:r>
              <a:rPr/>
              <a:t> 鉁?Completed - MVCC engine (242K TPS) - ZK verifier (RingCT + Groth16)</a:t>
            </a:r>
          </a:p>
          <a:p>
            <a:pPr lvl="0" indent="0" marL="0">
              <a:buNone/>
            </a:pPr>
            <a:r>
              <a:rPr b="1"/>
              <a:t>2025</a:t>
            </a:r>
            <a:r>
              <a:rPr/>
              <a:t> In Progress - Q1: Bitcoin + Ethereum adapters - Q2: Native monitoring, 4-layer PoC - Q4: Public testnet</a:t>
            </a:r>
          </a:p>
          <a:p>
            <a:pPr lvl="0" indent="0" marL="0">
              <a:buNone/>
            </a:pPr>
            <a:r>
              <a:rPr b="1"/>
              <a:t>2026</a:t>
            </a:r>
            <a:r>
              <a:rPr/>
              <a:t> Mainnet - Q2: Token launch (TGE) - Q4: 100K daily users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World-Class Experts</a:t>
            </a:r>
          </a:p>
          <a:p>
            <a:pPr lvl="0" indent="0" marL="0">
              <a:buNone/>
            </a:pPr>
            <a:r>
              <a:rPr b="1"/>
              <a:t>Founder</a:t>
            </a:r>
            <a:r>
              <a:rPr/>
              <a:t> - CEO &amp; Lead Architect - 15 years distributed systems - Former [Company]: [Achievement] - Ph.D. Computer Science</a:t>
            </a:r>
          </a:p>
          <a:p>
            <a:pPr lvl="0" indent="0" marL="0">
              <a:buNone/>
            </a:pPr>
            <a:r>
              <a:rPr b="1"/>
              <a:t>CTO</a:t>
            </a:r>
            <a:r>
              <a:rPr/>
              <a:t> - Core Developer - 20K+ lines production Rust - Blockchain since 2016</a:t>
            </a:r>
          </a:p>
          <a:p>
            <a:pPr lvl="0" indent="0" marL="0">
              <a:buNone/>
            </a:pPr>
            <a:r>
              <a:rPr b="1"/>
              <a:t>Team Stats</a:t>
            </a:r>
            <a:r>
              <a:rPr/>
              <a:t> - 8 full-time engineers - 3 security auditors - Average 10+ years experience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Code, Real Performance</a:t>
            </a:r>
          </a:p>
          <a:p>
            <a:pPr lvl="0" indent="0" marL="0">
              <a:buNone/>
            </a:pPr>
            <a:r>
              <a:rPr b="1"/>
              <a:t>Technical Milestones</a:t>
            </a:r>
            <a:r>
              <a:rPr/>
              <a:t>: - 鉁?242,000 TPS (tested) - 鉁?50.8 RingCT proofs/sec - 鉁?3,500+ GitHub commits - 鉁?42K lines Rust code</a:t>
            </a:r>
          </a:p>
          <a:p>
            <a:pPr lvl="0" indent="0" marL="0">
              <a:buNone/>
            </a:pPr>
            <a:r>
              <a:rPr b="1"/>
              <a:t>Community</a:t>
            </a:r>
            <a:r>
              <a:rPr/>
              <a:t>: - 2,400 GitHub stars (+15%/month) - 800 Discord members - 120 contributors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Revolutionary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Disaster Response 馃實</a:t>
            </a:r>
          </a:p>
          <a:p>
            <a:pPr lvl="0" indent="0" marL="0">
              <a:buNone/>
            </a:pPr>
            <a:r>
              <a:rPr b="1"/>
              <a:t>Earthquake cuts Internet</a:t>
            </a:r>
            <a:r>
              <a:rPr/>
              <a:t> 鈫?L3 nodes form WiFi Mesh (30 seconds) 鈫?Local payments continue via Bluetooth 鈫?Auto-sync when restored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Censorship Resistance 馃敀</a:t>
            </a:r>
          </a:p>
          <a:p>
            <a:pPr lvl="0" indent="0" marL="0">
              <a:buNone/>
            </a:pPr>
            <a:r>
              <a:rPr b="1"/>
              <a:t>Government blocks Internet</a:t>
            </a:r>
            <a:r>
              <a:rPr/>
              <a:t> 鈫?LoRa radio relay (2-20km range) 鈫?Bypass firewalls 鈫?Starlink backup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Financial Inclusion 馃挵</a:t>
            </a:r>
          </a:p>
          <a:p>
            <a:pPr lvl="0" indent="0" marL="0">
              <a:buNone/>
            </a:pPr>
            <a:r>
              <a:rPr b="1"/>
              <a:t>Rural Africa, no Internet</a:t>
            </a:r>
            <a:r>
              <a:rPr/>
              <a:t> 鈫?Solar-powered nodes 鈫?Bluetooth to phones 鈫?Cross-border remittance &lt;$1 fee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$5M Seed Round</a:t>
            </a:r>
          </a:p>
          <a:p>
            <a:pPr lvl="0" indent="0" marL="0">
              <a:buNone/>
            </a:pPr>
            <a:r>
              <a:rPr b="1"/>
              <a:t>Use of Funds</a:t>
            </a:r>
            <a:r>
              <a:rPr/>
              <a:t>: - Engineering (48%): $2.4M - Security audits (15%): $750K - Marketing (10%): $500K - Infrastructure (6%): $300K - Legal (8%): $400K - Operations (13%): $650K</a:t>
            </a:r>
          </a:p>
          <a:p>
            <a:pPr lvl="0" indent="0" marL="0">
              <a:buNone/>
            </a:pPr>
            <a:r>
              <a:rPr b="1"/>
              <a:t>Valuation</a:t>
            </a:r>
            <a:r>
              <a:rPr/>
              <a:t>: $20M pre-money, $25M post </a:t>
            </a:r>
            <a:r>
              <a:rPr b="1"/>
              <a:t>Equity</a:t>
            </a:r>
            <a:r>
              <a:rPr/>
              <a:t>: 20% (SAFE, 20% discount)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Projected Financials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Tx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$25M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$3.5M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$150M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$800M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$140M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$2.5B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Milestones</a:t>
            </a:r>
            <a:r>
              <a:rPr/>
              <a:t>: 1. Testnet 10K users (Month 12) 2. 2 enterprise partnerships (Month 15) 3. Security audit passed (Month 16)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&amp; Mitigation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Regulatory uncertainty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counsel in 3 jurisdictions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3-year R&amp;D complete, audits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Open-source moat, first-mover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Adoption slower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Ecosystem fund ($400M)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De-Risking</a:t>
            </a:r>
            <a:r>
              <a:rPr/>
              <a:t>: Testnet before mainnet, gradual rollout, insurance fund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Perfect Storm of Opportunity</a:t>
            </a:r>
          </a:p>
          <a:p>
            <a:pPr lvl="0" indent="-342900" marL="342900">
              <a:buAutoNum type="arabicPeriod"/>
            </a:pPr>
            <a:r>
              <a:rPr b="1"/>
              <a:t>Institutional Wave</a:t>
            </a:r>
            <a:r>
              <a:rPr/>
              <a:t> (2024-2025)</a:t>
            </a:r>
          </a:p>
          <a:p>
            <a:pPr lvl="1"/>
            <a:r>
              <a:rPr/>
              <a:t>BlackRock’s $10T tokenization</a:t>
            </a:r>
          </a:p>
          <a:p>
            <a:pPr lvl="1"/>
            <a:r>
              <a:rPr/>
              <a:t>Bitcoin ETF approval</a:t>
            </a:r>
          </a:p>
          <a:p>
            <a:pPr lvl="0" indent="-342900" marL="342900">
              <a:buAutoNum type="arabicPeriod"/>
            </a:pPr>
            <a:r>
              <a:rPr b="1"/>
              <a:t>Bridge Crisis Awakening</a:t>
            </a:r>
          </a:p>
          <a:p>
            <a:pPr lvl="1"/>
            <a:r>
              <a:rPr/>
              <a:t>$2B stolen 鈫?demand for security</a:t>
            </a:r>
          </a:p>
          <a:p>
            <a:pPr lvl="1"/>
            <a:r>
              <a:rPr/>
              <a:t>No innovation since 2020</a:t>
            </a:r>
          </a:p>
          <a:p>
            <a:pPr lvl="0" indent="-342900" marL="342900">
              <a:buAutoNum type="arabicPeriod"/>
            </a:pPr>
            <a:r>
              <a:rPr b="1"/>
              <a:t>Technical Maturity</a:t>
            </a:r>
          </a:p>
          <a:p>
            <a:pPr lvl="1"/>
            <a:r>
              <a:rPr/>
              <a:t>ZK-SNARKs production-ready</a:t>
            </a:r>
          </a:p>
          <a:p>
            <a:pPr lvl="1"/>
            <a:r>
              <a:rPr/>
              <a:t>MVCC proven in databases</a:t>
            </a:r>
          </a:p>
          <a:p>
            <a:pPr lvl="0" indent="0" marL="0">
              <a:buNone/>
            </a:pPr>
            <a:r>
              <a:rPr b="1"/>
              <a:t>Our Timing</a:t>
            </a:r>
            <a:r>
              <a:rPr/>
              <a:t>: Mainnet Q2 2026 aligns with bull market peak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Unlock Web3’s Pandora Box</a:t>
            </a:r>
          </a:p>
          <a:p>
            <a:pPr lvl="0" indent="0" marL="0">
              <a:buNone/>
            </a:pPr>
            <a:r>
              <a:rPr b="1"/>
              <a:t>What We’re Building</a:t>
            </a:r>
            <a:r>
              <a:rPr/>
              <a:t>: - Not another blockchain - Not another bridge - </a:t>
            </a:r>
            <a:r>
              <a:rPr b="1"/>
              <a:t>The OS for ALL blockchains</a:t>
            </a:r>
          </a:p>
          <a:p>
            <a:pPr lvl="0" indent="0" marL="0">
              <a:buNone/>
            </a:pPr>
            <a:r>
              <a:rPr b="1"/>
              <a:t>What We’re Asking</a:t>
            </a:r>
            <a:r>
              <a:rPr/>
              <a:t>: - $5M seed funding - Strategic partners - Regulatory/legal advisors</a:t>
            </a:r>
          </a:p>
          <a:p>
            <a:pPr lvl="0" indent="0" marL="0">
              <a:buNone/>
            </a:pPr>
            <a:r>
              <a:rPr b="1"/>
              <a:t>What You Get</a:t>
            </a:r>
            <a:r>
              <a:rPr/>
              <a:t>: - 20% equity in $2.5B+ outcome - First-mover position - Impact on 1B+ users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Deep-dive</a:t>
            </a:r>
            <a:r>
              <a:rPr/>
              <a:t> technical presentation (2 hours)</a:t>
            </a:r>
          </a:p>
          <a:p>
            <a:pPr lvl="0" indent="-342900" marL="342900">
              <a:buAutoNum type="arabicPeriod"/>
            </a:pPr>
            <a:r>
              <a:rPr b="1"/>
              <a:t>GitHub</a:t>
            </a:r>
            <a:r>
              <a:rPr/>
              <a:t> access + codebase review</a:t>
            </a:r>
          </a:p>
          <a:p>
            <a:pPr lvl="0" indent="-342900" marL="342900">
              <a:buAutoNum type="arabicPeriod"/>
            </a:pPr>
            <a:r>
              <a:rPr b="1"/>
              <a:t>Term sheet</a:t>
            </a:r>
            <a:r>
              <a:rPr/>
              <a:t> within 2 weeks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</a:t>
            </a:r>
            <a:r>
              <a:rPr/>
              <a:t>: - 馃摟 invest@supervm.io - 馃寪 supervm.io/deck - 馃捇 github.com/idkbreh/SuperVM</a:t>
            </a:r>
          </a:p>
          <a:p>
            <a:pPr lvl="0" indent="0" marL="0">
              <a:buNone/>
            </a:pPr>
            <a:r>
              <a:rPr b="1"/>
              <a:t>Thank you.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SuperVM Team</dc:creator>
  <cp:keywords/>
  <dcterms:created xsi:type="dcterms:W3CDTF">2025-11-09T23:08:34Z</dcterms:created>
  <dcterms:modified xsi:type="dcterms:W3CDTF">2025-11-09T23:08:34Z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2025</vt:lpwstr>
  </property>
  <property fmtid="{D5CDD505-2E9C-101B-9397-08002B2CF9AE}" pid="3" name="subtitle">
    <vt:lpwstr>The Web3 Operating System</vt:lpwstr>
  </property>
</Properties>
</file>